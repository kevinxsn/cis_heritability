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4389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0" cy="4983480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83480"/>
            <a:ext cx="32918400" cy="1645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31363919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sz="7200" b="1" i="0">
                <a:solidFill>
                  <a:srgbClr val="FFFFFF"/>
                </a:solidFill>
                <a:latin typeface="Arial"/>
              </a:rPr>
              <a:t>CHEWS improves cis-heritability precision over individual-level</a:t>
            </a:r>
          </a:p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sz="7200" b="1" i="0">
                <a:solidFill>
                  <a:srgbClr val="FFFFFF"/>
                </a:solidFill>
                <a:latin typeface="Arial"/>
              </a:rPr>
              <a:t>GCTA for sparse regulation in small samples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127248"/>
            <a:ext cx="3136391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200" b="1" i="0">
                <a:solidFill>
                  <a:srgbClr val="DCE9F8"/>
                </a:solidFill>
                <a:latin typeface="Arial"/>
              </a:rPr>
              <a:t>Sunan Xu¹   ·   Stephen Golzari²   ·   Tiffany Amariuta-Bartell³⁴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13632"/>
            <a:ext cx="3136391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600"/>
              </a:spcAft>
            </a:pPr>
            <a:r>
              <a:rPr sz="2100" b="0" i="0">
                <a:solidFill>
                  <a:srgbClr val="B9CFEB"/>
                </a:solidFill>
                <a:latin typeface="Arial"/>
              </a:rPr>
              <a:t>¹Bioinformatics and Systems Biology Program  ·  ²Shu Chien-Gene Lay Department of Bioengineering  ·  ³Department of Medicine  ·  ⁴Halıcıoğlu Data Science Institute   —   University of California San Diego, La Jolla, CA, USA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367528"/>
            <a:ext cx="31363919" cy="1051560"/>
          </a:xfrm>
          <a:prstGeom prst="rect">
            <a:avLst/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5367528"/>
            <a:ext cx="146304" cy="10515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5568696"/>
            <a:ext cx="30358079" cy="777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600"/>
              </a:spcAft>
            </a:pPr>
            <a:r>
              <a:rPr sz="3100" b="0" i="0">
                <a:solidFill>
                  <a:srgbClr val="0B0B0B"/>
                </a:solidFill>
                <a:latin typeface="Arial"/>
              </a:rPr>
              <a:t>Estimator performance depends jointly on </a:t>
            </a:r>
            <a:r>
              <a:rPr sz="3100" b="1" i="0">
                <a:solidFill>
                  <a:srgbClr val="0B0B0B"/>
                </a:solidFill>
                <a:latin typeface="Arial"/>
              </a:rPr>
              <a:t>regulatory architecture, sample size and LD source</a:t>
            </a:r>
            <a:r>
              <a:rPr sz="3100" b="0" i="0">
                <a:solidFill>
                  <a:srgbClr val="0B0B0B"/>
                </a:solidFill>
                <a:latin typeface="Arial"/>
              </a:rPr>
              <a:t>. CHEWS lowers error in small samples with concentrated effects, and underestimates h² as effects become diffuse.</a:t>
            </a:r>
          </a:p>
        </p:txBody>
      </p:sp>
      <p:pic>
        <p:nvPicPr>
          <p:cNvPr id="10" name="Picture 9" descr="P0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6729983"/>
            <a:ext cx="28620719" cy="17063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8454608"/>
            <a:ext cx="3136391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100" b="0" i="1">
                <a:solidFill>
                  <a:srgbClr val="52514E"/>
                </a:solidFill>
                <a:latin typeface="Arial"/>
              </a:rPr>
              <a:t>CHEWS  =  Cis-Heritability Estimation With SuSiE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9094688"/>
            <a:ext cx="10119359" cy="84124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9250136"/>
            <a:ext cx="968044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1  The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0393136"/>
            <a:ext cx="10119359" cy="1833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500" b="0" i="0">
                <a:solidFill>
                  <a:srgbClr val="0B0B0B"/>
                </a:solidFill>
                <a:latin typeface="Arial"/>
              </a:rPr>
              <a:t>Cis-SNP heritability (cis-h²) quantifies how strongly a gene is genetically regulated. GCTA/GREML needs individual-level genotypes; consortium data are increasingly summary statistics only.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2501336"/>
            <a:ext cx="10119359" cy="2147824"/>
          </a:xfrm>
          <a:prstGeom prst="rect">
            <a:avLst/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12501336"/>
            <a:ext cx="118872" cy="214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12775656"/>
            <a:ext cx="9460991" cy="154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200" b="1" i="0">
                <a:solidFill>
                  <a:srgbClr val="0B0B0B"/>
                </a:solidFill>
                <a:latin typeface="Arial"/>
              </a:rPr>
              <a:t>Accuracy</a:t>
            </a:r>
            <a:r>
              <a:rPr sz="2200" b="0" i="0">
                <a:solidFill>
                  <a:srgbClr val="0B0B0B"/>
                </a:solidFill>
                <a:latin typeface="Arial"/>
              </a:rPr>
              <a:t> — closeness to truth; bias and MAE, in simulation only.   </a:t>
            </a:r>
            <a:r>
              <a:rPr sz="2200" b="1" i="0">
                <a:solidFill>
                  <a:srgbClr val="0B0B0B"/>
                </a:solidFill>
                <a:latin typeface="Arial"/>
              </a:rPr>
              <a:t>Precision</a:t>
            </a:r>
            <a:r>
              <a:rPr sz="2200" b="0" i="0">
                <a:solidFill>
                  <a:srgbClr val="0B0B0B"/>
                </a:solidFill>
                <a:latin typeface="Arial"/>
              </a:rPr>
              <a:t> — sampling variability; SD over repeated phenotypes at a fixed locus.   </a:t>
            </a:r>
            <a:r>
              <a:rPr sz="2200" b="1" i="0">
                <a:solidFill>
                  <a:srgbClr val="0B0B0B"/>
                </a:solidFill>
                <a:latin typeface="Arial"/>
              </a:rPr>
              <a:t>Agreement</a:t>
            </a:r>
            <a:r>
              <a:rPr sz="2200" b="0" i="0">
                <a:solidFill>
                  <a:srgbClr val="0B0B0B"/>
                </a:solidFill>
                <a:latin typeface="Arial"/>
              </a:rPr>
              <a:t> — similarity of values; offset, slope, RMSE.   </a:t>
            </a:r>
            <a:r>
              <a:rPr sz="2200" b="1" i="0">
                <a:solidFill>
                  <a:srgbClr val="0B0B0B"/>
                </a:solidFill>
                <a:latin typeface="Arial"/>
              </a:rPr>
              <a:t>Reliability</a:t>
            </a:r>
            <a:r>
              <a:rPr sz="2200" b="0" i="0">
                <a:solidFill>
                  <a:srgbClr val="0B0B0B"/>
                </a:solidFill>
                <a:latin typeface="Arial"/>
              </a:rPr>
              <a:t> — reproducibility; split-half correlation.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15161224"/>
            <a:ext cx="10119359" cy="84124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15316672"/>
            <a:ext cx="968044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2  What CHEWS estimates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16459672"/>
            <a:ext cx="10119359" cy="1833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500" b="0" i="0">
                <a:solidFill>
                  <a:srgbClr val="0B0B0B"/>
                </a:solidFill>
                <a:latin typeface="Arial"/>
              </a:rPr>
              <a:t>Truth is the quadratic form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βᵀRβ</a:t>
            </a:r>
            <a:r>
              <a:rPr sz="2500" b="0" i="0">
                <a:solidFill>
                  <a:srgbClr val="0B0B0B"/>
                </a:solidFill>
                <a:latin typeface="Arial"/>
              </a:rPr>
              <a:t>. SuSiE writes β = Σₗ βₗ, one single-effect vector per component, each selecting exactly one variant. Let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mₗ = E[βₗ] = αₗ⊙μₗ</a:t>
            </a:r>
            <a:r>
              <a:rPr sz="2500" b="0" i="0">
                <a:solidFill>
                  <a:srgbClr val="0B0B0B"/>
                </a:solidFill>
                <a:latin typeface="Arial"/>
              </a:rPr>
              <a:t> and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sₗ = E[βₗᵀRβₗ]</a:t>
            </a:r>
            <a:r>
              <a:rPr sz="2500" b="0" i="0">
                <a:solidFill>
                  <a:srgbClr val="0B0B0B"/>
                </a:solidFill>
                <a:latin typeface="Arial"/>
              </a:rPr>
              <a:t>. Then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18567872"/>
            <a:ext cx="10119359" cy="1124204"/>
          </a:xfrm>
          <a:prstGeom prst="rect">
            <a:avLst/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18567872"/>
            <a:ext cx="118872" cy="112420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61288" y="18842192"/>
            <a:ext cx="9460991" cy="520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600" b="1" i="0">
                <a:solidFill>
                  <a:srgbClr val="0B0B0B"/>
                </a:solidFill>
                <a:latin typeface="Arial"/>
              </a:rPr>
              <a:t>E[βᵀRβ | data]  =  μᵀRμ  −  Σₗ mₗᵀR mₗ  +  Σₗ sₗ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19966396"/>
            <a:ext cx="10119359" cy="2246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500" b="0" i="0">
                <a:solidFill>
                  <a:srgbClr val="0B0B0B"/>
                </a:solidFill>
                <a:latin typeface="Arial"/>
              </a:rPr>
              <a:t>The subtraction removes within-component cross products that cannot occur. The pipeline has always reported the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trace form Σⱼ(μⱼ²+σⱼ²)</a:t>
            </a:r>
            <a:r>
              <a:rPr sz="2500" b="0" i="0">
                <a:solidFill>
                  <a:srgbClr val="0B0B0B"/>
                </a:solidFill>
                <a:latin typeface="Arial"/>
              </a:rPr>
              <a:t>, which is what this reduces to at R = I; the exact form is checked against brute-force tr(R·E[ββᵀ]) to 2e−16.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22487346"/>
            <a:ext cx="10119359" cy="2511044"/>
          </a:xfrm>
          <a:prstGeom prst="rect">
            <a:avLst/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22487346"/>
            <a:ext cx="118872" cy="251104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61288" y="22761666"/>
            <a:ext cx="9460991" cy="1907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200" b="1" i="0">
                <a:solidFill>
                  <a:srgbClr val="0B0B0B"/>
                </a:solidFill>
                <a:latin typeface="Arial"/>
              </a:rPr>
              <a:t>At n = 300 the two forms track each other on average</a:t>
            </a:r>
            <a:r>
              <a:rPr sz="2200" b="0" i="0">
                <a:solidFill>
                  <a:srgbClr val="0B0B0B"/>
                </a:solidFill>
                <a:latin typeface="Arial"/>
              </a:rPr>
              <a:t> — r = 0.996, median |difference| 0.002, and the mean bias curves overlap at every causal count (§4). Per locus they can still differ: </a:t>
            </a:r>
            <a:r>
              <a:rPr sz="2200" b="1" i="0">
                <a:solidFill>
                  <a:srgbClr val="0B0B0B"/>
                </a:solidFill>
                <a:latin typeface="Arial"/>
              </a:rPr>
              <a:t>95th percentile 0.034, maximum 0.368</a:t>
            </a:r>
            <a:r>
              <a:rPr sz="2200" b="0" i="0">
                <a:solidFill>
                  <a:srgbClr val="0B0B0B"/>
                </a:solidFill>
                <a:latin typeface="Arial"/>
              </a:rPr>
              <a:t>. The exact form was evaluated at n = 300 only; §5–6 use the trace form.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25510454"/>
            <a:ext cx="10119359" cy="84124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1" y="25665902"/>
            <a:ext cx="968044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3  Benchmark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77240" y="26808902"/>
          <a:ext cx="10119358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7001"/>
                <a:gridCol w="3035807"/>
                <a:gridCol w="3946550"/>
              </a:tblGrid>
              <a:tr h="603504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estimator</a:t>
                      </a:r>
                    </a:p>
                  </a:txBody>
                  <a:tcPr anchor="ctr" marL="128016" marR="73152" marT="36576" marB="36576"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data needed</a:t>
                      </a:r>
                    </a:p>
                  </a:txBody>
                  <a:tcPr anchor="ctr" marL="128016" marR="73152" marT="36576" marB="36576"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model assumed</a:t>
                      </a:r>
                    </a:p>
                  </a:txBody>
                  <a:tcPr anchor="ctr" marL="128016" marR="73152" marT="36576" marB="36576">
                    <a:solidFill>
                      <a:srgbClr val="10428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GCTA / REML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individual genotypes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infinitesimal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CHEWS</a:t>
                      </a:r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 (here)</a:t>
                      </a:r>
                    </a:p>
                  </a:txBody>
                  <a:tcPr anchor="ctr" marL="128016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summary stats + LD</a:t>
                      </a:r>
                    </a:p>
                  </a:txBody>
                  <a:tcPr anchor="ctr" marL="128016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sparse causal set</a:t>
                      </a:r>
                    </a:p>
                  </a:txBody>
                  <a:tcPr anchor="ctr" marL="128016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HEELS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summary stats + LD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infinitesimal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868680" y="2938751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300" b="1" i="0">
                <a:solidFill>
                  <a:srgbClr val="EB6834"/>
                </a:solidFill>
                <a:latin typeface="Arial"/>
              </a:rPr>
              <a:t>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29387510"/>
            <a:ext cx="9616439" cy="170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300" b="0" i="0">
                <a:solidFill>
                  <a:srgbClr val="0B0B0B"/>
                </a:solidFill>
                <a:latin typeface="Arial"/>
              </a:rPr>
              <a:t>350 random 1000 Genomes EUR cis-regions (±500 kb, median 8,200 SNPs). Effects rescaled so βᵀRβ = h², so only their </a:t>
            </a:r>
            <a:r>
              <a:rPr sz="2300" b="1" i="0">
                <a:solidFill>
                  <a:srgbClr val="0B0B0B"/>
                </a:solidFill>
                <a:latin typeface="Arial"/>
              </a:rPr>
              <a:t>distribution</a:t>
            </a:r>
            <a:r>
              <a:rPr sz="2300" b="0" i="0">
                <a:solidFill>
                  <a:srgbClr val="0B0B0B"/>
                </a:solidFill>
                <a:latin typeface="Arial"/>
              </a:rPr>
              <a:t> varies. Swept: n, h², causal count, effect prior, causal MAF, regional LD.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3118075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300" b="1" i="0">
                <a:solidFill>
                  <a:srgbClr val="EB6834"/>
                </a:solidFill>
                <a:latin typeface="Arial"/>
              </a:rPr>
              <a:t>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31180750"/>
            <a:ext cx="9616439" cy="13220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300" b="1" i="0">
                <a:solidFill>
                  <a:srgbClr val="0B0B0B"/>
                </a:solidFill>
                <a:latin typeface="Arial"/>
              </a:rPr>
              <a:t>20,400 replicates attempted; 20,294 complete method triplets</a:t>
            </a:r>
            <a:r>
              <a:rPr sz="2300" b="0" i="0">
                <a:solidFill>
                  <a:srgbClr val="0B0B0B"/>
                </a:solidFill>
                <a:latin typeface="Arial"/>
              </a:rPr>
              <a:t> (unconstrained GCTA/GREML failed in 106). Intervals resample whole regions.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33106324"/>
            <a:ext cx="10119359" cy="84124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3271" y="33261772"/>
            <a:ext cx="968044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4  Architecture decides</a:t>
            </a:r>
          </a:p>
        </p:txBody>
      </p:sp>
      <p:pic>
        <p:nvPicPr>
          <p:cNvPr id="37" name="Picture 36" descr="P2_win_landsc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4404772"/>
            <a:ext cx="10119359" cy="457086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77240" y="39067081"/>
            <a:ext cx="10119359" cy="1223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100" b="0" i="1">
                <a:solidFill>
                  <a:srgbClr val="52514E"/>
                </a:solidFill>
                <a:latin typeface="Arial"/>
              </a:rPr>
              <a:t>% of 2,990 paired fits at n = 300 where CHEWS is closer to truth; ~100 per cell. A win rate; §5 reports error magnitude. Median and mean absolute error agree, so rare bad fits drive neither.</a:t>
            </a:r>
          </a:p>
        </p:txBody>
      </p:sp>
      <p:pic>
        <p:nvPicPr>
          <p:cNvPr id="39" name="Picture 38" descr="P1_bias_on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9519" y="9094688"/>
            <a:ext cx="10119359" cy="406122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1399519" y="13247356"/>
            <a:ext cx="10119359" cy="1223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100" b="0" i="1">
                <a:solidFill>
                  <a:srgbClr val="52514E"/>
                </a:solidFill>
                <a:latin typeface="Arial"/>
              </a:rPr>
              <a:t>Bias pooled over the h² grid, n = 300; 95% region-clustered bootstrap intervals (2,000 resamples). Dashed purple is the exact LD-aware estimator (§2); it lies on the trace form.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99519" y="14744686"/>
            <a:ext cx="10119359" cy="26593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500" b="0" i="0">
                <a:solidFill>
                  <a:srgbClr val="0B0B0B"/>
                </a:solidFill>
                <a:latin typeface="Arial"/>
              </a:rPr>
              <a:t>One causal SNP: CHEWS nearly unbiased (−0.008), closer on 76% of loci. At twenty,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both</a:t>
            </a:r>
            <a:r>
              <a:rPr sz="2500" b="0" i="0">
                <a:solidFill>
                  <a:srgbClr val="0B0B0B"/>
                </a:solidFill>
                <a:latin typeface="Arial"/>
              </a:rPr>
              <a:t> CHEWS forms underestimate h² by ≈0.13 while GCTA and HEELS stay near zero, so the LD cross terms do not explain it.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Consistent with the sparse-effect model</a:t>
            </a:r>
            <a:r>
              <a:rPr sz="2500" b="0" i="0">
                <a:solidFill>
                  <a:srgbClr val="0B0B0B"/>
                </a:solidFill>
                <a:latin typeface="Arial"/>
              </a:rPr>
              <a:t> — but CHEWS and HEELS also differ in LD source (§5), so that attribution is provisional.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399519" y="17916130"/>
            <a:ext cx="10119359" cy="84124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655551" y="18071578"/>
            <a:ext cx="968044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5  Sample size cuts both ways</a:t>
            </a:r>
          </a:p>
        </p:txBody>
      </p:sp>
      <p:pic>
        <p:nvPicPr>
          <p:cNvPr id="44" name="Picture 43" descr="P3_sample_siz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99519" y="19214578"/>
            <a:ext cx="10119359" cy="381943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399519" y="23125451"/>
            <a:ext cx="10119359" cy="876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100" b="0" i="1">
                <a:solidFill>
                  <a:srgbClr val="52514E"/>
                </a:solidFill>
                <a:latin typeface="Arial"/>
              </a:rPr>
              <a:t>(A) SD of ĥ² across loci; a within-locus design agrees to ≤0.007. (B) MAE difference by n and causal count. 1,464–1,500 replicates per point.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99519" y="24276071"/>
            <a:ext cx="10119359" cy="26593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500" b="0" i="0">
                <a:solidFill>
                  <a:srgbClr val="0B0B0B"/>
                </a:solidFill>
                <a:latin typeface="Arial"/>
              </a:rPr>
              <a:t>With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25 independent phenotypes per locus</a:t>
            </a:r>
            <a:r>
              <a:rPr sz="2500" b="0" i="0">
                <a:solidFill>
                  <a:srgbClr val="0B0B0B"/>
                </a:solidFill>
                <a:latin typeface="Arial"/>
              </a:rPr>
              <a:t> (30 regions), CHEWS's sampling SD is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0.108 against GCTA's 0.246</a:t>
            </a:r>
            <a:r>
              <a:rPr sz="2500" b="0" i="0">
                <a:solidFill>
                  <a:srgbClr val="0B0B0B"/>
                </a:solidFill>
                <a:latin typeface="Arial"/>
              </a:rPr>
              <a:t> at n = 100, one causal SNP — 2.3×, and 2–4× across conditions. But the error advantage is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an interaction, not a rule about n</a:t>
            </a:r>
            <a:r>
              <a:rPr sz="2500" b="0" i="0">
                <a:solidFill>
                  <a:srgbClr val="0B0B0B"/>
                </a:solidFill>
                <a:latin typeface="Arial"/>
              </a:rPr>
              <a:t>: largest at small n with concentrated effects, reversed at 20 causal SNPs at every sample size.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399519" y="27209771"/>
            <a:ext cx="10119359" cy="2511044"/>
          </a:xfrm>
          <a:prstGeom prst="rect">
            <a:avLst/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399519" y="27209771"/>
            <a:ext cx="118872" cy="251104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83567" y="27484091"/>
            <a:ext cx="9460991" cy="1907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200" b="0" i="0">
                <a:solidFill>
                  <a:srgbClr val="0B0B0B"/>
                </a:solidFill>
                <a:latin typeface="Arial"/>
              </a:rPr>
              <a:t>HEELS is </a:t>
            </a:r>
            <a:r>
              <a:rPr sz="2200" b="1" i="0">
                <a:solidFill>
                  <a:srgbClr val="0B0B0B"/>
                </a:solidFill>
                <a:latin typeface="Arial"/>
              </a:rPr>
              <a:t>not</a:t>
            </a:r>
            <a:r>
              <a:rPr sz="2200" b="0" i="0">
                <a:solidFill>
                  <a:srgbClr val="0B0B0B"/>
                </a:solidFill>
                <a:latin typeface="Arial"/>
              </a:rPr>
              <a:t> a clean sparsity control as run: it received in-sample LD while CHEWS received reference-panel LD, so the two differ in model </a:t>
            </a:r>
            <a:r>
              <a:rPr sz="2200" b="1" i="0">
                <a:solidFill>
                  <a:srgbClr val="0B0B0B"/>
                </a:solidFill>
                <a:latin typeface="Arial"/>
              </a:rPr>
              <a:t>and</a:t>
            </a:r>
            <a:r>
              <a:rPr sz="2200" b="0" i="0">
                <a:solidFill>
                  <a:srgbClr val="0B0B0B"/>
                </a:solidFill>
                <a:latin typeface="Arial"/>
              </a:rPr>
              <a:t> LD source — the matched factorial is on the methods page. At n = 100 (p/n ≈ 70) it converges on 100% of fits but </a:t>
            </a:r>
            <a:r>
              <a:rPr sz="2200" b="1" i="0">
                <a:solidFill>
                  <a:srgbClr val="0B0B0B"/>
                </a:solidFill>
                <a:latin typeface="Arial"/>
              </a:rPr>
              <a:t>46% of estimates exceed ĥ² = 0.9</a:t>
            </a:r>
            <a:r>
              <a:rPr sz="2200" b="0" i="0">
                <a:solidFill>
                  <a:srgbClr val="0B0B0B"/>
                </a:solidFill>
                <a:latin typeface="Arial"/>
              </a:rPr>
              <a:t>: saturation, not non-convergence.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399519" y="30232879"/>
            <a:ext cx="10119359" cy="84124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655551" y="30388327"/>
            <a:ext cx="968044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6  GTEx: agreement, not truth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99519" y="31531327"/>
            <a:ext cx="10119359" cy="1833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500" b="0" i="0">
                <a:solidFill>
                  <a:srgbClr val="0B0B0B"/>
                </a:solidFill>
                <a:latin typeface="Arial"/>
              </a:rPr>
              <a:t>19,432 genes, 574 EUR donors, five nested subsets; covariates as REML fixed effects, in-sample LD; GCTA returned on 96.5–98.6%.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No ground truth here</a:t>
            </a:r>
            <a:r>
              <a:rPr sz="2500" b="0" i="0">
                <a:solidFill>
                  <a:srgbClr val="0B0B0B"/>
                </a:solidFill>
                <a:latin typeface="Arial"/>
              </a:rPr>
              <a:t> — this measures disagreement, not accuracy.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399519" y="33639527"/>
            <a:ext cx="10119359" cy="2147824"/>
          </a:xfrm>
          <a:prstGeom prst="rect">
            <a:avLst/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399519" y="33639527"/>
            <a:ext cx="118872" cy="21478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783567" y="33913847"/>
            <a:ext cx="9460991" cy="154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200" b="1" i="0">
                <a:solidFill>
                  <a:srgbClr val="0B0B0B"/>
                </a:solidFill>
                <a:latin typeface="Arial"/>
              </a:rPr>
              <a:t>Updated after abstract submission:</a:t>
            </a:r>
            <a:r>
              <a:rPr sz="2200" b="0" i="0">
                <a:solidFill>
                  <a:srgbClr val="0B0B0B"/>
                </a:solidFill>
                <a:latin typeface="Arial"/>
              </a:rPr>
              <a:t> covariates now enter REML directly rather than pre-residualizing expression. The values here replace the submitted GTEx estimates; the degrees-of-freedom explanation is on the methods page.</a:t>
            </a:r>
          </a:p>
        </p:txBody>
      </p:sp>
      <p:pic>
        <p:nvPicPr>
          <p:cNvPr id="56" name="Picture 55" descr="P5_agreem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9519" y="36061671"/>
            <a:ext cx="10119359" cy="4049661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1399519" y="40202773"/>
            <a:ext cx="10119359" cy="5295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100" b="0" i="1">
                <a:solidFill>
                  <a:srgbClr val="52514E"/>
                </a:solidFill>
                <a:latin typeface="Arial"/>
              </a:rPr>
              <a:t>Agreement with GCTA, 18,747–19,169 complete-case genes per subset.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99519" y="41006683"/>
            <a:ext cx="10119359" cy="1833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500" b="0" i="0">
                <a:solidFill>
                  <a:srgbClr val="0B0B0B"/>
                </a:solidFill>
                <a:latin typeface="Arial"/>
              </a:rPr>
              <a:t>At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n = 574, 19,169 complete-case genes</a:t>
            </a:r>
            <a:r>
              <a:rPr sz="2500" b="0" i="0">
                <a:solidFill>
                  <a:srgbClr val="0B0B0B"/>
                </a:solidFill>
                <a:latin typeface="Arial"/>
              </a:rPr>
              <a:t>, HEELS tracks REML closely but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not exactly</a:t>
            </a:r>
            <a:r>
              <a:rPr sz="2500" b="0" i="0">
                <a:solidFill>
                  <a:srgbClr val="0B0B0B"/>
                </a:solidFill>
                <a:latin typeface="Arial"/>
              </a:rPr>
              <a:t>: r = 0.9996, slope 0.93, offset −0.0074, RMSE 0.012. CHEWS is shrunk at n = 100 (slope 0.67), reaching unit slope by n = 574.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021800" y="9094688"/>
            <a:ext cx="10119359" cy="84124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277832" y="9250136"/>
            <a:ext cx="968044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7  A conditioning artefact</a:t>
            </a:r>
          </a:p>
        </p:txBody>
      </p:sp>
      <p:pic>
        <p:nvPicPr>
          <p:cNvPr id="61" name="Picture 60" descr="P6_strata_compa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21800" y="10393136"/>
            <a:ext cx="10119359" cy="6817899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2021800" y="17302476"/>
            <a:ext cx="10119359" cy="876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100" b="0" i="1">
                <a:solidFill>
                  <a:srgbClr val="52514E"/>
                </a:solidFill>
                <a:latin typeface="Arial"/>
              </a:rPr>
              <a:t>Mean CHEWS − GCTA within joint strata; 50–9,572 genes per cell, &lt;30 blank.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021800" y="18453096"/>
            <a:ext cx="10119359" cy="2246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500" b="0" i="0">
                <a:solidFill>
                  <a:srgbClr val="0B0B0B"/>
                </a:solidFill>
                <a:latin typeface="Arial"/>
              </a:rPr>
              <a:t>Using GCTA in both the stratum definition and the difference creates mathematical coupling. In (B)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both</a:t>
            </a:r>
            <a:r>
              <a:rPr sz="2500" b="0" i="0">
                <a:solidFill>
                  <a:srgbClr val="0B0B0B"/>
                </a:solidFill>
                <a:latin typeface="Arial"/>
              </a:rPr>
              <a:t> stratifying variables come from half A and the difference from half B, sharing no donor — and most of the pattern goes with the coupling.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No Simpson's paradox is claimed.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021800" y="21211790"/>
            <a:ext cx="10119359" cy="84124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2277832" y="21367238"/>
            <a:ext cx="968044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8  Robustness across donors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021800" y="22510238"/>
            <a:ext cx="10119359" cy="10083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500" b="0" i="0">
                <a:solidFill>
                  <a:srgbClr val="0B0B0B"/>
                </a:solidFill>
                <a:latin typeface="Arial"/>
              </a:rPr>
              <a:t>Two disjoint halves of 287 donors, Pearson r on common genes:</a:t>
            </a:r>
          </a:p>
        </p:txBody>
      </p:sp>
      <p:graphicFrame>
        <p:nvGraphicFramePr>
          <p:cNvPr id="67" name="Table 66"/>
          <p:cNvGraphicFramePr>
            <a:graphicFrameLocks noGrp="1"/>
          </p:cNvGraphicFramePr>
          <p:nvPr/>
        </p:nvGraphicFramePr>
        <p:xfrm>
          <a:off x="22021800" y="23792938"/>
          <a:ext cx="10119358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2067"/>
                <a:gridCol w="1619097"/>
                <a:gridCol w="1619097"/>
                <a:gridCol w="1619097"/>
              </a:tblGrid>
              <a:tr h="603504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gene set</a:t>
                      </a:r>
                    </a:p>
                  </a:txBody>
                  <a:tcPr anchor="ctr" marL="128016" marR="73152" marT="36576" marB="36576"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GCTA</a:t>
                      </a:r>
                    </a:p>
                  </a:txBody>
                  <a:tcPr anchor="ctr" marL="128016" marR="73152" marT="36576" marB="36576"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CHEWS</a:t>
                      </a:r>
                    </a:p>
                  </a:txBody>
                  <a:tcPr anchor="ctr" marL="128016" marR="73152" marT="36576" marB="36576"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HEELS</a:t>
                      </a:r>
                    </a:p>
                  </a:txBody>
                  <a:tcPr anchor="ctr" marL="128016" marR="73152" marT="36576" marB="36576">
                    <a:solidFill>
                      <a:srgbClr val="10428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all genes (18.5–19.4k)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0.865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0.912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0.870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prespecified ≥1 eQTL (9.7k)</a:t>
                      </a:r>
                    </a:p>
                  </a:txBody>
                  <a:tcPr anchor="ctr" marL="128016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0.850</a:t>
                      </a:r>
                    </a:p>
                  </a:txBody>
                  <a:tcPr anchor="ctr" marL="128016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0.898</a:t>
                      </a:r>
                    </a:p>
                  </a:txBody>
                  <a:tcPr anchor="ctr" marL="128016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0.857</a:t>
                      </a:r>
                    </a:p>
                  </a:txBody>
                  <a:tcPr anchor="ctr" marL="128016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post-hoc ĥ²&gt;0.05 (4.2k)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0.848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0.892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0.855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</a:tr>
            </a:tbl>
          </a:graphicData>
        </a:graphic>
      </p:graphicFrame>
      <p:sp>
        <p:nvSpPr>
          <p:cNvPr id="68" name="TextBox 67"/>
          <p:cNvSpPr txBox="1"/>
          <p:nvPr/>
        </p:nvSpPr>
        <p:spPr>
          <a:xfrm>
            <a:off x="22021800" y="26371546"/>
            <a:ext cx="10119359" cy="2246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500" b="1" i="0">
                <a:solidFill>
                  <a:srgbClr val="0B0B0B"/>
                </a:solidFill>
                <a:latin typeface="Arial"/>
              </a:rPr>
              <a:t>In this one donor split</a:t>
            </a:r>
            <a:r>
              <a:rPr sz="2500" b="0" i="0">
                <a:solidFill>
                  <a:srgbClr val="0B0B0B"/>
                </a:solidFill>
                <a:latin typeface="Arial"/>
              </a:rPr>
              <a:t> CHEWS had the higher split-half correlation on all three gene sets;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repeated donor partitions are needed to quantify robustness to the split itself.</a:t>
            </a:r>
            <a:r>
              <a:rPr sz="2500" b="0" i="0">
                <a:solidFill>
                  <a:srgbClr val="0B0B0B"/>
                </a:solidFill>
                <a:latin typeface="Arial"/>
              </a:rPr>
              <a:t> A paired bootstrap over genes gives Δr = +0.050, but resamples genes, not splits. Reliability is precision, not accuracy.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021800" y="29130240"/>
            <a:ext cx="10119359" cy="84124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277832" y="29285688"/>
            <a:ext cx="968044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9  How to choose</a:t>
            </a:r>
          </a:p>
        </p:txBody>
      </p:sp>
      <p:graphicFrame>
        <p:nvGraphicFramePr>
          <p:cNvPr id="71" name="Table 70"/>
          <p:cNvGraphicFramePr>
            <a:graphicFrameLocks noGrp="1"/>
          </p:cNvGraphicFramePr>
          <p:nvPr/>
        </p:nvGraphicFramePr>
        <p:xfrm>
          <a:off x="22021800" y="30428688"/>
          <a:ext cx="10119359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2518"/>
                <a:gridCol w="5666841"/>
              </a:tblGrid>
              <a:tr h="603504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situation</a:t>
                      </a:r>
                    </a:p>
                  </a:txBody>
                  <a:tcPr anchor="ctr" marL="128016" marR="73152" marT="36576" marB="36576"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interpretation (current evidence)</a:t>
                      </a:r>
                    </a:p>
                  </a:txBody>
                  <a:tcPr anchor="ctr" marL="128016" marR="73152" marT="36576" marB="36576">
                    <a:solidFill>
                      <a:srgbClr val="10428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In-sample sufficient stats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HEELS targets the same REML equations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Reference-panel LD</a:t>
                      </a:r>
                    </a:p>
                  </a:txBody>
                  <a:tcPr anchor="ctr" marL="128016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assess LD match; not isolated here</a:t>
                      </a:r>
                    </a:p>
                  </a:txBody>
                  <a:tcPr anchor="ctr" marL="128016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Small n, concentrated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CHEWS may lower MAE despite bias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Diffuse signal</a:t>
                      </a:r>
                    </a:p>
                  </a:txBody>
                  <a:tcPr anchor="ctr" marL="128016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CHEWS underestimates h²</a:t>
                      </a:r>
                    </a:p>
                  </a:txBody>
                  <a:tcPr anchor="ctr" marL="128016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Strong MAF dependence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stratified GRM, but validate first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</a:tr>
            </a:tbl>
          </a:graphicData>
        </a:graphic>
      </p:graphicFrame>
      <p:sp>
        <p:nvSpPr>
          <p:cNvPr id="72" name="Rectangle 71"/>
          <p:cNvSpPr/>
          <p:nvPr/>
        </p:nvSpPr>
        <p:spPr>
          <a:xfrm>
            <a:off x="22021800" y="34378896"/>
            <a:ext cx="10119359" cy="84124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2277832" y="34534344"/>
            <a:ext cx="968044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10  Limitations · References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113240" y="35677344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 i="0">
                <a:solidFill>
                  <a:srgbClr val="EB6834"/>
                </a:solidFill>
                <a:latin typeface="Arial"/>
              </a:rPr>
              <a:t>▪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524720" y="35677344"/>
            <a:ext cx="9616439" cy="1223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100" b="0" i="0">
                <a:solidFill>
                  <a:srgbClr val="0B0B0B"/>
                </a:solidFill>
                <a:latin typeface="Arial"/>
              </a:rPr>
              <a:t>Nominal 95% Wald intervals under-covered (68–87%). Screen fine-mapping h² against [0,1] — rare fits read 3–5 while reporting clean convergence.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113240" y="36991794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 i="0">
                <a:solidFill>
                  <a:srgbClr val="EB6834"/>
                </a:solidFill>
                <a:latin typeface="Arial"/>
              </a:rPr>
              <a:t>▪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2524720" y="36991794"/>
            <a:ext cx="9616439" cy="876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100" b="0" i="0">
                <a:solidFill>
                  <a:srgbClr val="0B0B0B"/>
                </a:solidFill>
                <a:latin typeface="Arial"/>
              </a:rPr>
              <a:t>Simulated genotypes are multivariate normal: pairwise LD preserved, discrete counts and haplotypes not. One tissue, one donor split.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021800" y="38233854"/>
            <a:ext cx="10119359" cy="117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000" b="0" i="0">
                <a:solidFill>
                  <a:srgbClr val="0B0B0B"/>
                </a:solidFill>
                <a:latin typeface="Arial"/>
              </a:rPr>
              <a:t>1. Yang J. GCTA. AJHG 2011;88:76.  2. Wang G. SuSiE. JRSS-B 2020;82:1273.  3. Zou Y. susie_rss. PLoS Genet 2022;18:e1010299.  4. Li H, Mazumder R, Lin X. HEELS. Nat Commun 2023;14:7954.  5. GTEx. Science 2020;369:1318.</a:t>
            </a:r>
          </a:p>
        </p:txBody>
      </p:sp>
      <p:pic>
        <p:nvPicPr>
          <p:cNvPr id="79" name="Picture 78" descr="q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21800" y="39681654"/>
            <a:ext cx="1874519" cy="1874519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24262080" y="39882822"/>
            <a:ext cx="7833360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300" b="1" i="0">
                <a:solidFill>
                  <a:srgbClr val="0B0B0B"/>
                </a:solidFill>
                <a:latin typeface="Arial"/>
              </a:rPr>
              <a:t>Methods, full result tables,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300" b="1" i="0">
                <a:solidFill>
                  <a:srgbClr val="0B0B0B"/>
                </a:solidFill>
                <a:latin typeface="Arial"/>
              </a:rPr>
              <a:t>code and sensitivity analyses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2021800" y="41665902"/>
            <a:ext cx="10119359" cy="513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000" b="0" i="0">
                <a:solidFill>
                  <a:srgbClr val="52514E"/>
                </a:solidFill>
                <a:latin typeface="Arial"/>
              </a:rPr>
              <a:t>Amariuta Lab, UC San Diego   ·   Contact: sux002@ucsd.edu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